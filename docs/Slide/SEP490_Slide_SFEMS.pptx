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Poppins"/>
      <p:regular r:id="rId44"/>
      <p:bold r:id="rId45"/>
      <p:italic r:id="rId46"/>
      <p:boldItalic r:id="rId47"/>
    </p:embeddedFont>
    <p:embeddedFont>
      <p:font typeface="Quattrocento Sans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Open Sans Light"/>
      <p:regular r:id="rId53"/>
      <p:bold r:id="rId54"/>
      <p:italic r:id="rId55"/>
      <p:boldItalic r:id="rId56"/>
    </p:embeddedFont>
    <p:embeddedFont>
      <p:font typeface="Open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1" roundtripDataSignature="AMtx7mhAnkfB/r8a4jtfFgiEvtM4Ysz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Poppins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Poppins-italic.fntdata"/><Relationship Id="rId45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QuattrocentoSans-regular.fntdata"/><Relationship Id="rId47" Type="http://schemas.openxmlformats.org/officeDocument/2006/relationships/font" Target="fonts/Poppins-boldItalic.fntdata"/><Relationship Id="rId49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1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penSans-bold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QuattrocentoSans-boldItalic.fntdata"/><Relationship Id="rId50" Type="http://schemas.openxmlformats.org/officeDocument/2006/relationships/font" Target="fonts/QuattrocentoSans-italic.fntdata"/><Relationship Id="rId53" Type="http://schemas.openxmlformats.org/officeDocument/2006/relationships/font" Target="fonts/OpenSansLight-regular.fntdata"/><Relationship Id="rId52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55" Type="http://schemas.openxmlformats.org/officeDocument/2006/relationships/font" Target="fonts/OpenSansLight-italic.fntdata"/><Relationship Id="rId10" Type="http://schemas.openxmlformats.org/officeDocument/2006/relationships/slide" Target="slides/slide6.xml"/><Relationship Id="rId54" Type="http://schemas.openxmlformats.org/officeDocument/2006/relationships/font" Target="fonts/OpenSansLight-bold.fntdata"/><Relationship Id="rId13" Type="http://schemas.openxmlformats.org/officeDocument/2006/relationships/slide" Target="slides/slide9.xml"/><Relationship Id="rId57" Type="http://schemas.openxmlformats.org/officeDocument/2006/relationships/font" Target="fonts/OpenSans-regular.fntdata"/><Relationship Id="rId12" Type="http://schemas.openxmlformats.org/officeDocument/2006/relationships/slide" Target="slides/slide8.xml"/><Relationship Id="rId56" Type="http://schemas.openxmlformats.org/officeDocument/2006/relationships/font" Target="fonts/OpenSansLight-boldItalic.fntdata"/><Relationship Id="rId15" Type="http://schemas.openxmlformats.org/officeDocument/2006/relationships/slide" Target="slides/slide11.xml"/><Relationship Id="rId59" Type="http://schemas.openxmlformats.org/officeDocument/2006/relationships/font" Target="fonts/OpenSans-italic.fntdata"/><Relationship Id="rId14" Type="http://schemas.openxmlformats.org/officeDocument/2006/relationships/slide" Target="slides/slide10.xml"/><Relationship Id="rId58" Type="http://schemas.openxmlformats.org/officeDocument/2006/relationships/font" Target="fonts/OpenSans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246c859856c8b688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h246c859856c8b688_2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246c859856c8b688_3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h246c859856c8b688_3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246c859856c8b688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h246c859856c8b688_3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0" name="Google Shape;45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h246c859856c8b688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h246c859856c8b688_3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h246c859856c8b688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4" name="Google Shape;534;h246c859856c8b688_3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h246c859856c8b688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8" name="Google Shape;548;h246c859856c8b688_3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246c859856c8b688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h246c859856c8b688_3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6" name="Google Shape;576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3.jpg"/><Relationship Id="rId5" Type="http://schemas.openxmlformats.org/officeDocument/2006/relationships/image" Target="../media/image48.jpg"/><Relationship Id="rId6" Type="http://schemas.openxmlformats.org/officeDocument/2006/relationships/image" Target="../media/image4.jpg"/><Relationship Id="rId7" Type="http://schemas.openxmlformats.org/officeDocument/2006/relationships/image" Target="../media/image46.jpg"/><Relationship Id="rId8" Type="http://schemas.openxmlformats.org/officeDocument/2006/relationships/image" Target="../media/image4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giasuonline.vn/" TargetMode="External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giasuonline.vn/" TargetMode="External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11" Type="http://schemas.openxmlformats.org/officeDocument/2006/relationships/image" Target="../media/image17.png"/><Relationship Id="rId22" Type="http://schemas.openxmlformats.org/officeDocument/2006/relationships/image" Target="../media/image27.png"/><Relationship Id="rId10" Type="http://schemas.openxmlformats.org/officeDocument/2006/relationships/image" Target="../media/image34.png"/><Relationship Id="rId21" Type="http://schemas.openxmlformats.org/officeDocument/2006/relationships/image" Target="../media/image52.png"/><Relationship Id="rId13" Type="http://schemas.openxmlformats.org/officeDocument/2006/relationships/image" Target="../media/image2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15.png"/><Relationship Id="rId15" Type="http://schemas.openxmlformats.org/officeDocument/2006/relationships/image" Target="../media/image24.jpg"/><Relationship Id="rId14" Type="http://schemas.openxmlformats.org/officeDocument/2006/relationships/image" Target="../media/image16.png"/><Relationship Id="rId17" Type="http://schemas.openxmlformats.org/officeDocument/2006/relationships/image" Target="../media/image32.png"/><Relationship Id="rId16" Type="http://schemas.openxmlformats.org/officeDocument/2006/relationships/image" Target="../media/image23.png"/><Relationship Id="rId5" Type="http://schemas.openxmlformats.org/officeDocument/2006/relationships/image" Target="../media/image11.jpg"/><Relationship Id="rId19" Type="http://schemas.openxmlformats.org/officeDocument/2006/relationships/image" Target="../media/image20.png"/><Relationship Id="rId6" Type="http://schemas.openxmlformats.org/officeDocument/2006/relationships/image" Target="../media/image12.png"/><Relationship Id="rId18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5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4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5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ường Đại học FPT - Trang thông tin chính thức của Trường Đại học FPT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9995" y="2009487"/>
            <a:ext cx="4170744" cy="129575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922498" y="3474163"/>
            <a:ext cx="10853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vi-VN" sz="3900">
                <a:solidFill>
                  <a:schemeClr val="dk1"/>
                </a:solidFill>
              </a:rPr>
              <a:t>School Facilities and Equipment Management System</a:t>
            </a:r>
            <a:r>
              <a:rPr b="1" i="0" lang="vi-VN" sz="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vi-VN" sz="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lang="vi-VN" sz="3900">
                <a:solidFill>
                  <a:schemeClr val="dk1"/>
                </a:solidFill>
              </a:rPr>
              <a:t>SFEMS</a:t>
            </a:r>
            <a:endParaRPr b="1" i="0" sz="3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3922505" y="4936064"/>
            <a:ext cx="7318519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8" name="Google Shape;88;p1"/>
          <p:cNvSpPr txBox="1"/>
          <p:nvPr/>
        </p:nvSpPr>
        <p:spPr>
          <a:xfrm>
            <a:off x="9032259" y="5211210"/>
            <a:ext cx="23166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vi-VN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SEP490_G</a:t>
            </a:r>
            <a:r>
              <a:rPr b="1" lang="vi-VN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123</a:t>
            </a:r>
            <a:endParaRPr b="1" i="0" sz="2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256389" y="5875684"/>
            <a:ext cx="44053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vi-V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r>
              <a:rPr b="1" i="0" lang="vi-V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vi-VN" sz="2400">
                <a:solidFill>
                  <a:schemeClr val="dk1"/>
                </a:solidFill>
              </a:rPr>
              <a:t>Đinh Thị Xuân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4714240" cy="6858000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345440" y="2909825"/>
            <a:ext cx="4023360" cy="230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vi-VN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OF CONTENT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79552" y="1000840"/>
            <a:ext cx="3755136" cy="137769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ường Đại học FPT - Trang thông tin chính thức của Trường Đại học FPT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984" y="1233261"/>
            <a:ext cx="2938272" cy="91285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5306474" y="2028306"/>
            <a:ext cx="64983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vi-VN" sz="2800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I. Project introduction </a:t>
            </a:r>
            <a:endParaRPr b="0" i="0" sz="2800" u="none" cap="none" strike="noStrike">
              <a:solidFill>
                <a:srgbClr val="00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vi-VN" sz="2800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II. Project Management Plan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vi-VN" sz="2800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III. Software Requirement Speciﬁcation </a:t>
            </a:r>
            <a:endParaRPr b="0" i="0" sz="2800" u="none" cap="none" strike="noStrike">
              <a:solidFill>
                <a:srgbClr val="00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701040" y="0"/>
            <a:ext cx="5740400" cy="104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6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vi-VN" sz="4000" u="none" cap="none" strike="noStrike">
                <a:solidFill>
                  <a:srgbClr val="F47124"/>
                </a:solidFill>
                <a:latin typeface="Roboto"/>
                <a:ea typeface="Roboto"/>
                <a:cs typeface="Roboto"/>
                <a:sym typeface="Roboto"/>
              </a:rPr>
              <a:t>TEAM MEMBERS</a:t>
            </a:r>
            <a:endParaRPr b="1" i="0" sz="4000" u="none" cap="none" strike="noStrike">
              <a:solidFill>
                <a:srgbClr val="F47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 title="1791558410867_7651763295056968318_g8478203093536816614_e9a4d816e8017afad1ffffee44d7c8b4.jpg"/>
          <p:cNvPicPr preferRelativeResize="0"/>
          <p:nvPr/>
        </p:nvPicPr>
        <p:blipFill rotWithShape="1">
          <a:blip r:embed="rId4">
            <a:alphaModFix/>
          </a:blip>
          <a:srcRect b="7627" l="0" r="0" t="7627"/>
          <a:stretch/>
        </p:blipFill>
        <p:spPr>
          <a:xfrm>
            <a:off x="1292391" y="1647404"/>
            <a:ext cx="1576800" cy="1781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4710"/>
              </a:srgbClr>
            </a:outerShdw>
          </a:effectLst>
        </p:spPr>
      </p:pic>
      <p:pic>
        <p:nvPicPr>
          <p:cNvPr id="108" name="Google Shape;108;p4" title="1791550786295_65845722075105703_84988515688139875_cc193cd559a23862382fb68d45967540.jpg"/>
          <p:cNvPicPr preferRelativeResize="0"/>
          <p:nvPr/>
        </p:nvPicPr>
        <p:blipFill rotWithShape="1">
          <a:blip r:embed="rId5">
            <a:alphaModFix/>
          </a:blip>
          <a:srcRect b="0" l="17277" r="17277" t="0"/>
          <a:stretch/>
        </p:blipFill>
        <p:spPr>
          <a:xfrm>
            <a:off x="9588312" y="1469706"/>
            <a:ext cx="1576800" cy="18069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4710"/>
              </a:srgbClr>
            </a:outerShdw>
          </a:effectLst>
        </p:spPr>
      </p:pic>
      <p:pic>
        <p:nvPicPr>
          <p:cNvPr id="109" name="Google Shape;109;p4" title="1791552395523_256145006533859620_3934223739844033331_b12b0287710ebacd6e552940002a5fe9.jpg"/>
          <p:cNvPicPr preferRelativeResize="0"/>
          <p:nvPr/>
        </p:nvPicPr>
        <p:blipFill rotWithShape="1">
          <a:blip r:embed="rId6">
            <a:alphaModFix/>
          </a:blip>
          <a:srcRect b="9322" l="0" r="0" t="9331"/>
          <a:stretch/>
        </p:blipFill>
        <p:spPr>
          <a:xfrm>
            <a:off x="3421367" y="4135398"/>
            <a:ext cx="1576800" cy="1703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4706"/>
              </a:srgbClr>
            </a:outerShdw>
          </a:effectLst>
        </p:spPr>
      </p:pic>
      <p:sp>
        <p:nvSpPr>
          <p:cNvPr id="110" name="Google Shape;110;p4"/>
          <p:cNvSpPr txBox="1"/>
          <p:nvPr/>
        </p:nvSpPr>
        <p:spPr>
          <a:xfrm>
            <a:off x="1282475" y="3581400"/>
            <a:ext cx="1671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   Lưu Văn Đông </a:t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HE181461</a:t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212800" y="3581400"/>
            <a:ext cx="20319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     Trần Ngọc Tú</a:t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HE181526</a:t>
            </a:r>
            <a:endParaRPr sz="900">
              <a:solidFill>
                <a:srgbClr val="71717A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9046225" y="3490300"/>
            <a:ext cx="286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Phạm Nguyễn Duy Hoàng</a:t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HE186613</a:t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3199400" y="6060446"/>
            <a:ext cx="20319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   Nguyễn Vũ Nghĩa</a:t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HE170095</a:t>
            </a:r>
            <a:endParaRPr sz="900">
              <a:solidFill>
                <a:srgbClr val="71717A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4" title="z5332587025806_7544d14f59c3fc19a24fe9a2af86d038.jpg"/>
          <p:cNvPicPr preferRelativeResize="0"/>
          <p:nvPr/>
        </p:nvPicPr>
        <p:blipFill rotWithShape="1">
          <a:blip r:embed="rId7">
            <a:alphaModFix/>
          </a:blip>
          <a:srcRect b="26360" l="0" r="0" t="26365"/>
          <a:stretch/>
        </p:blipFill>
        <p:spPr>
          <a:xfrm>
            <a:off x="7680686" y="4135398"/>
            <a:ext cx="1576800" cy="1703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4706"/>
              </a:srgbClr>
            </a:outerShdw>
          </a:effectLst>
        </p:spPr>
      </p:pic>
      <p:sp>
        <p:nvSpPr>
          <p:cNvPr id="115" name="Google Shape;115;p4"/>
          <p:cNvSpPr txBox="1"/>
          <p:nvPr/>
        </p:nvSpPr>
        <p:spPr>
          <a:xfrm>
            <a:off x="7556400" y="6020325"/>
            <a:ext cx="20319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   Trần Duy Quang</a:t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HE176369</a:t>
            </a:r>
            <a:endParaRPr sz="900">
              <a:solidFill>
                <a:srgbClr val="71717A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3B3B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4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7" name="Google Shape;117;p4" title="1791558205270_8770080113845218555_g8478203093536816614_87b0108ab4b92dab581f1d450f156948.jpg"/>
          <p:cNvPicPr preferRelativeResize="0"/>
          <p:nvPr/>
        </p:nvPicPr>
        <p:blipFill rotWithShape="1">
          <a:blip r:embed="rId8">
            <a:alphaModFix/>
          </a:blip>
          <a:srcRect b="7627" l="0" r="0" t="7627"/>
          <a:stretch/>
        </p:blipFill>
        <p:spPr>
          <a:xfrm>
            <a:off x="5440341" y="1647404"/>
            <a:ext cx="1576800" cy="1781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471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5"/>
          <p:cNvGrpSpPr/>
          <p:nvPr/>
        </p:nvGrpSpPr>
        <p:grpSpPr>
          <a:xfrm>
            <a:off x="1046480" y="2465407"/>
            <a:ext cx="10099040" cy="2854960"/>
            <a:chOff x="1046480" y="2743200"/>
            <a:chExt cx="10099040" cy="2854960"/>
          </a:xfrm>
        </p:grpSpPr>
        <p:sp>
          <p:nvSpPr>
            <p:cNvPr id="124" name="Google Shape;124;p5"/>
            <p:cNvSpPr/>
            <p:nvPr/>
          </p:nvSpPr>
          <p:spPr>
            <a:xfrm>
              <a:off x="1046480" y="2743200"/>
              <a:ext cx="10099040" cy="2854960"/>
            </a:xfrm>
            <a:prstGeom prst="horizontalScroll">
              <a:avLst>
                <a:gd fmla="val 12500" name="adj"/>
              </a:avLst>
            </a:prstGeom>
            <a:solidFill>
              <a:srgbClr val="FF9933"/>
            </a:solidFill>
            <a:ln cap="flat" cmpd="sng" w="127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5"/>
            <p:cNvSpPr txBox="1"/>
            <p:nvPr/>
          </p:nvSpPr>
          <p:spPr>
            <a:xfrm>
              <a:off x="2371727" y="3429000"/>
              <a:ext cx="7753346" cy="1042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50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vi-VN" sz="4400" u="none" cap="none" strike="noStrike">
                  <a:solidFill>
                    <a:srgbClr val="0C0C0C"/>
                  </a:solidFill>
                  <a:latin typeface="Roboto"/>
                  <a:ea typeface="Roboto"/>
                  <a:cs typeface="Roboto"/>
                  <a:sym typeface="Roboto"/>
                </a:rPr>
                <a:t>I. PROJECT INTRODUCTION</a:t>
              </a:r>
              <a:endParaRPr b="1" i="0" sz="4400" u="none" cap="none" strike="noStrike">
                <a:solidFill>
                  <a:srgbClr val="0C0C0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5"/>
          <p:cNvGrpSpPr/>
          <p:nvPr/>
        </p:nvGrpSpPr>
        <p:grpSpPr>
          <a:xfrm>
            <a:off x="1512222" y="610236"/>
            <a:ext cx="9446400" cy="1763389"/>
            <a:chOff x="1512222" y="1026925"/>
            <a:chExt cx="9446400" cy="1763389"/>
          </a:xfrm>
        </p:grpSpPr>
        <p:sp>
          <p:nvSpPr>
            <p:cNvPr id="127" name="Google Shape;127;p5"/>
            <p:cNvSpPr txBox="1"/>
            <p:nvPr/>
          </p:nvSpPr>
          <p:spPr>
            <a:xfrm>
              <a:off x="1512222" y="1712714"/>
              <a:ext cx="9446400" cy="107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Arial"/>
                <a:buNone/>
              </a:pPr>
              <a:r>
                <a:rPr b="1" lang="vi-VN" sz="3500">
                  <a:solidFill>
                    <a:srgbClr val="F47124"/>
                  </a:solidFill>
                </a:rPr>
                <a:t>School Facilities and Equipment Management System</a:t>
              </a:r>
              <a:endParaRPr b="1" i="0" sz="3600" cap="none" strike="noStrike">
                <a:solidFill>
                  <a:srgbClr val="F4712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128;p5"/>
            <p:cNvSpPr txBox="1"/>
            <p:nvPr/>
          </p:nvSpPr>
          <p:spPr>
            <a:xfrm>
              <a:off x="5094605" y="1026925"/>
              <a:ext cx="2002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942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vi-VN" sz="2400" u="none" cap="none" strike="noStrike">
                  <a:solidFill>
                    <a:srgbClr val="262626"/>
                  </a:solidFill>
                  <a:latin typeface="Roboto"/>
                  <a:ea typeface="Roboto"/>
                  <a:cs typeface="Roboto"/>
                  <a:sym typeface="Roboto"/>
                </a:rPr>
                <a:t>SEP490_G</a:t>
              </a:r>
              <a:r>
                <a:rPr b="1" lang="vi-VN" sz="2400">
                  <a:solidFill>
                    <a:srgbClr val="262626"/>
                  </a:solidFill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b="1" i="0" sz="2400" u="none" cap="none" strike="noStrik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5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1" name="Google Shape;131;p5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132" name="Google Shape;132;p5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133" name="Google Shape;133;p5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624007" y="686137"/>
            <a:ext cx="5804887" cy="828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PROJECT BACKGROUND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294575" y="1514625"/>
            <a:ext cx="8287200" cy="4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vi-V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 &amp; Roles:</a:t>
            </a:r>
            <a:r>
              <a:rPr lang="vi-V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Equipment is provided according to MOET minimum lists; DOET directs procurement, while individual schools manage tracking records and annual inventory.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vi-V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IT Setup:</a:t>
            </a:r>
            <a:r>
              <a:rPr lang="vi-V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DOET already operates student and teacher management systems, but facility and equipment data remains isolated and unsynchronized.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vi-V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Data Scale:</a:t>
            </a:r>
            <a:r>
              <a:rPr lang="vi-V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1,670 schools from merged administrative regions bring disparate equipment codes, naming conventions, and record templates.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vi-V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System Need:</a:t>
            </a:r>
            <a:r>
              <a:rPr lang="vi-V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DOET is investing in a unified data system to manage the entire equipment lifecycle (procurement planning, asset registration, and inventory).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6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550" y="2509224"/>
            <a:ext cx="3528451" cy="235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6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145" name="Google Shape;145;p6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146" name="Google Shape;146;p6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624007" y="686137"/>
            <a:ext cx="5804887" cy="816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PROBLEMS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24000" y="1336950"/>
            <a:ext cx="9738300" cy="4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Fragmented Data:</a:t>
            </a:r>
            <a:r>
              <a:rPr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Inconsistent coding, naming, and record templates make city-wide data consolidation across over 1,670 schools impossible.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Processes:</a:t>
            </a:r>
            <a:r>
              <a:rPr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Only ~50% IT usage; heavy reliance on local spreadsheets creates high administrative workload and data silos.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Delayed Reporting:</a:t>
            </a:r>
            <a:r>
              <a:rPr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Complex, manual review cycles across 1,300+ units result in missed deadlines and urgent reminder notices.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Equipment Loss:</a:t>
            </a:r>
            <a:r>
              <a:rPr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Absence of centralized, real-time tracking leads to untracked asset loss and budgeting inefficiencies.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7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6" name="Google Shape;156;p7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157" name="Google Shape;157;p7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158" name="Google Shape;158;p7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532567" y="341559"/>
            <a:ext cx="5804887" cy="828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EXISTING SOLOTIONS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>
            <a:hlinkClick r:id="rId4"/>
          </p:cNvPr>
          <p:cNvSpPr txBox="1"/>
          <p:nvPr/>
        </p:nvSpPr>
        <p:spPr>
          <a:xfrm>
            <a:off x="918495" y="1199308"/>
            <a:ext cx="32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https://csdl.hcm.edu.vn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8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8050" y="1597849"/>
            <a:ext cx="9087826" cy="445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8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170" name="Google Shape;170;p8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171" name="Google Shape;171;p8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9"/>
          <p:cNvGrpSpPr/>
          <p:nvPr/>
        </p:nvGrpSpPr>
        <p:grpSpPr>
          <a:xfrm>
            <a:off x="-13848" y="6355794"/>
            <a:ext cx="1702430" cy="502155"/>
            <a:chOff x="-13848" y="6355794"/>
            <a:chExt cx="1702430" cy="502155"/>
          </a:xfrm>
        </p:grpSpPr>
        <p:sp>
          <p:nvSpPr>
            <p:cNvPr id="178" name="Google Shape;178;p9"/>
            <p:cNvSpPr/>
            <p:nvPr/>
          </p:nvSpPr>
          <p:spPr>
            <a:xfrm>
              <a:off x="-13848" y="6355794"/>
              <a:ext cx="1702430" cy="502155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179" name="Google Shape;179;p9"/>
            <p:cNvSpPr txBox="1"/>
            <p:nvPr/>
          </p:nvSpPr>
          <p:spPr>
            <a:xfrm>
              <a:off x="202462" y="6466672"/>
              <a:ext cx="13764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0" name="Google Shape;180;p9"/>
          <p:cNvSpPr txBox="1"/>
          <p:nvPr/>
        </p:nvSpPr>
        <p:spPr>
          <a:xfrm>
            <a:off x="532567" y="341559"/>
            <a:ext cx="5804887" cy="828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EXISTING SOLOTIONS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>
            <a:hlinkClick r:id="rId4"/>
          </p:cNvPr>
          <p:cNvSpPr txBox="1"/>
          <p:nvPr/>
        </p:nvSpPr>
        <p:spPr>
          <a:xfrm>
            <a:off x="1006870" y="1049533"/>
            <a:ext cx="325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100"/>
              <a:t>https://helpemis.misa.vn/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9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4" name="Google Shape;184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1800" y="1311123"/>
            <a:ext cx="9335052" cy="4672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624007" y="686137"/>
            <a:ext cx="5804887" cy="828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PROJECT PURPOSE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692799" y="1514625"/>
            <a:ext cx="9932100" cy="4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b="1" lang="vi-V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Lifecycle Management : </a:t>
            </a:r>
            <a:r>
              <a:rPr lang="vi-V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a web-based system (SFEMS) to manage the entire equipment lifecycle directly from daily school operations, eliminating manual reporting rounds.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b="1" lang="vi-V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Standardized Coding &amp; Rules : </a:t>
            </a:r>
            <a:r>
              <a:rPr lang="vi-V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Classifies equipment using MOET minimum lists and enforces unified coding rules, allowing seamless data consolidation across all schools.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b="1" lang="vi-V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Core Flows : </a:t>
            </a:r>
            <a:r>
              <a:rPr lang="vi-V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Streamlines 3 key operational flows: procurement planning (GAP-07), asset registration &amp; code generation (GAP-02), and digital inventory rounds (GAP-06).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b="1" lang="vi-V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Source &amp; Secure Access : </a:t>
            </a:r>
            <a:r>
              <a:rPr lang="vi-V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single shared database with strict Role-Based Access Control (RBAC)—schools manage local assets, while DOET maintains city-wide oversight.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10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94" name="Google Shape;194;p10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195" name="Google Shape;195;p10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196" name="Google Shape;196;p10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394413" y="177058"/>
            <a:ext cx="580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11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vi-VN" sz="32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MAIN FEATURE</a:t>
            </a:r>
            <a:endParaRPr b="1" i="0" sz="32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3" name="Google Shape;2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1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11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206" name="Google Shape;206;p11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207" name="Google Shape;207;p11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08" name="Google Shape;20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9988" y="1370524"/>
            <a:ext cx="8372025" cy="41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613847" y="710453"/>
            <a:ext cx="6244153" cy="816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LIMITATION &amp; EXCLUSIONS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 txBox="1"/>
          <p:nvPr/>
        </p:nvSpPr>
        <p:spPr>
          <a:xfrm>
            <a:off x="1075251" y="1849706"/>
            <a:ext cx="97368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vi-V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Limitation: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Waiting for the DOET to provide access to the City's shared identity system.The system uses </a:t>
            </a: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its own accounts and</a:t>
            </a: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 passwords.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Teachers do not sign into the system;the school equipment officer records borrowing,returns and fault </a:t>
            </a: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reports on their</a:t>
            </a: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 behalf.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996701" y="3957428"/>
            <a:ext cx="97368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vi-V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Exclusions: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These Schools Belong To A different management level and</a:t>
            </a: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 need their own roles,data scope and approval steps.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vi-VN" sz="1800">
                <a:latin typeface="Calibri"/>
                <a:ea typeface="Calibri"/>
                <a:cs typeface="Calibri"/>
                <a:sym typeface="Calibri"/>
              </a:rPr>
              <a:t>The project covers only the upper-secondary schools managed directly by the DOET, with two levels: the DOET and the school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12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9" name="Google Shape;219;p12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220" name="Google Shape;220;p12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221" name="Google Shape;221;p12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13"/>
          <p:cNvGrpSpPr/>
          <p:nvPr/>
        </p:nvGrpSpPr>
        <p:grpSpPr>
          <a:xfrm>
            <a:off x="1046480" y="2465407"/>
            <a:ext cx="10099040" cy="2854960"/>
            <a:chOff x="1046480" y="2743200"/>
            <a:chExt cx="10099040" cy="2854960"/>
          </a:xfrm>
        </p:grpSpPr>
        <p:sp>
          <p:nvSpPr>
            <p:cNvPr id="228" name="Google Shape;228;p13"/>
            <p:cNvSpPr/>
            <p:nvPr/>
          </p:nvSpPr>
          <p:spPr>
            <a:xfrm>
              <a:off x="1046480" y="2743200"/>
              <a:ext cx="10099040" cy="2854960"/>
            </a:xfrm>
            <a:prstGeom prst="horizontalScroll">
              <a:avLst>
                <a:gd fmla="val 12500" name="adj"/>
              </a:avLst>
            </a:prstGeom>
            <a:solidFill>
              <a:srgbClr val="FF9933"/>
            </a:solidFill>
            <a:ln cap="flat" cmpd="sng" w="127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1668529" y="3514207"/>
              <a:ext cx="9241153" cy="1042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50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vi-VN" sz="4400" u="none" cap="none" strike="noStrike">
                  <a:solidFill>
                    <a:srgbClr val="0C0C0C"/>
                  </a:solidFill>
                  <a:latin typeface="Roboto"/>
                  <a:ea typeface="Roboto"/>
                  <a:cs typeface="Roboto"/>
                  <a:sym typeface="Roboto"/>
                </a:rPr>
                <a:t>II. PROJECT MANAGEMENT PLAN</a:t>
              </a:r>
              <a:endParaRPr b="1" i="0" sz="4400" u="none" cap="none" strike="noStrike">
                <a:solidFill>
                  <a:srgbClr val="0C0C0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0" name="Google Shape;230;p13"/>
          <p:cNvGrpSpPr/>
          <p:nvPr/>
        </p:nvGrpSpPr>
        <p:grpSpPr>
          <a:xfrm>
            <a:off x="-13848" y="6355794"/>
            <a:ext cx="1716345" cy="502155"/>
            <a:chOff x="-13848" y="6355794"/>
            <a:chExt cx="1716345" cy="502155"/>
          </a:xfrm>
        </p:grpSpPr>
        <p:sp>
          <p:nvSpPr>
            <p:cNvPr id="231" name="Google Shape;231;p13"/>
            <p:cNvSpPr/>
            <p:nvPr/>
          </p:nvSpPr>
          <p:spPr>
            <a:xfrm>
              <a:off x="-13848" y="6355794"/>
              <a:ext cx="1702430" cy="502155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232" name="Google Shape;232;p13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33" name="Google Shape;2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13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0" y="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47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6" name="Google Shape;236;p13"/>
          <p:cNvGrpSpPr/>
          <p:nvPr/>
        </p:nvGrpSpPr>
        <p:grpSpPr>
          <a:xfrm>
            <a:off x="1512222" y="610236"/>
            <a:ext cx="9446400" cy="1763389"/>
            <a:chOff x="1512222" y="1026925"/>
            <a:chExt cx="9446400" cy="1763389"/>
          </a:xfrm>
        </p:grpSpPr>
        <p:sp>
          <p:nvSpPr>
            <p:cNvPr id="237" name="Google Shape;237;p13"/>
            <p:cNvSpPr txBox="1"/>
            <p:nvPr/>
          </p:nvSpPr>
          <p:spPr>
            <a:xfrm>
              <a:off x="1512222" y="1712714"/>
              <a:ext cx="9446400" cy="107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Arial"/>
                <a:buNone/>
              </a:pPr>
              <a:r>
                <a:rPr b="1" lang="vi-VN" sz="3500">
                  <a:solidFill>
                    <a:srgbClr val="F47124"/>
                  </a:solidFill>
                </a:rPr>
                <a:t>School Facilities and Equipment Management System</a:t>
              </a:r>
              <a:endParaRPr b="1" i="0" sz="3600" cap="none" strike="noStrike">
                <a:solidFill>
                  <a:srgbClr val="F4712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8" name="Google Shape;238;p13"/>
            <p:cNvSpPr txBox="1"/>
            <p:nvPr/>
          </p:nvSpPr>
          <p:spPr>
            <a:xfrm>
              <a:off x="5094605" y="1026925"/>
              <a:ext cx="2002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942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vi-VN" sz="2400" u="none" cap="none" strike="noStrike">
                  <a:solidFill>
                    <a:srgbClr val="262626"/>
                  </a:solidFill>
                  <a:latin typeface="Roboto"/>
                  <a:ea typeface="Roboto"/>
                  <a:cs typeface="Roboto"/>
                  <a:sym typeface="Roboto"/>
                </a:rPr>
                <a:t>SEP490_G</a:t>
              </a:r>
              <a:r>
                <a:rPr b="1" lang="vi-VN" sz="2400">
                  <a:solidFill>
                    <a:srgbClr val="262626"/>
                  </a:solidFill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b="1" i="0" sz="2400" u="none" cap="none" strike="noStrik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246c859856c8b688_2_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h246c859856c8b688_2_23"/>
          <p:cNvSpPr txBox="1"/>
          <p:nvPr/>
        </p:nvSpPr>
        <p:spPr>
          <a:xfrm>
            <a:off x="526296" y="298497"/>
            <a:ext cx="556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PROJECT ORGANIZATION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h246c859856c8b688_2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2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h246c859856c8b688_2_23"/>
          <p:cNvSpPr txBox="1"/>
          <p:nvPr/>
        </p:nvSpPr>
        <p:spPr>
          <a:xfrm>
            <a:off x="11165107" y="6423659"/>
            <a:ext cx="6795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14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7" name="Google Shape;247;h246c859856c8b688_2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025" y="1359650"/>
            <a:ext cx="9621950" cy="42875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48" name="Google Shape;248;h246c859856c8b688_2_23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249" name="Google Shape;249;h246c859856c8b688_2_23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250" name="Google Shape;250;h246c859856c8b688_2_23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837367" y="162854"/>
            <a:ext cx="4625757" cy="82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PROJECT PROCCESS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7" name="Google Shape;2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5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15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9" name="Google Shape;25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1575" y="1025213"/>
            <a:ext cx="7968850" cy="498551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60" name="Google Shape;260;p15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261" name="Google Shape;261;p15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262" name="Google Shape;262;p15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476041" y="0"/>
            <a:ext cx="5619959" cy="82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COMMUNICATION PLANT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9" name="Google Shape;2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6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16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1" name="Google Shape;2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4713" y="878075"/>
            <a:ext cx="7862575" cy="5386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16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273" name="Google Shape;273;p16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274" name="Google Shape;274;p16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/>
          <p:nvPr/>
        </p:nvSpPr>
        <p:spPr>
          <a:xfrm>
            <a:off x="6695189" y="3838709"/>
            <a:ext cx="359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25" lIns="107900" spcFirstLastPara="1" rIns="107900" wrap="square" tIns="53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4"/>
              <a:buFont typeface="Arial"/>
              <a:buNone/>
            </a:pPr>
            <a:r>
              <a:t/>
            </a:r>
            <a:endParaRPr b="0" i="0" sz="2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537001" y="30178"/>
            <a:ext cx="5406599" cy="82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QUALITY MANAGEMENT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1" name="Google Shape;2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7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17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3" name="Google Shape;283;p17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284" name="Google Shape;284;p17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285" name="Google Shape;285;p17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6" name="Google Shape;286;p17"/>
          <p:cNvSpPr/>
          <p:nvPr/>
        </p:nvSpPr>
        <p:spPr>
          <a:xfrm>
            <a:off x="2448550" y="1914099"/>
            <a:ext cx="2316545" cy="837622"/>
          </a:xfrm>
          <a:custGeom>
            <a:rect b="b" l="l" r="r" t="t"/>
            <a:pathLst>
              <a:path extrusionOk="0" h="1063647" w="2941644">
                <a:moveTo>
                  <a:pt x="0" y="0"/>
                </a:moveTo>
                <a:lnTo>
                  <a:pt x="2941644" y="0"/>
                </a:lnTo>
                <a:lnTo>
                  <a:pt x="2941644" y="1063647"/>
                </a:lnTo>
                <a:lnTo>
                  <a:pt x="0" y="1063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300" l="-18300" r="-18300" t="-18300"/>
            </a:stretch>
          </a:blipFill>
          <a:ln>
            <a:noFill/>
          </a:ln>
        </p:spPr>
      </p:sp>
      <p:sp>
        <p:nvSpPr>
          <p:cNvPr id="287" name="Google Shape;287;p17"/>
          <p:cNvSpPr/>
          <p:nvPr/>
        </p:nvSpPr>
        <p:spPr>
          <a:xfrm>
            <a:off x="2448550" y="4055316"/>
            <a:ext cx="2316545" cy="837622"/>
          </a:xfrm>
          <a:custGeom>
            <a:rect b="b" l="l" r="r" t="t"/>
            <a:pathLst>
              <a:path extrusionOk="0" h="1063647" w="2941644">
                <a:moveTo>
                  <a:pt x="0" y="0"/>
                </a:moveTo>
                <a:lnTo>
                  <a:pt x="2941644" y="0"/>
                </a:lnTo>
                <a:lnTo>
                  <a:pt x="2941644" y="1063647"/>
                </a:lnTo>
                <a:lnTo>
                  <a:pt x="0" y="1063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300" l="-18300" r="-18300" t="-18300"/>
            </a:stretch>
          </a:blipFill>
          <a:ln>
            <a:noFill/>
          </a:ln>
        </p:spPr>
      </p:sp>
      <p:sp>
        <p:nvSpPr>
          <p:cNvPr id="288" name="Google Shape;288;p17"/>
          <p:cNvSpPr/>
          <p:nvPr/>
        </p:nvSpPr>
        <p:spPr>
          <a:xfrm>
            <a:off x="4946393" y="3000773"/>
            <a:ext cx="2316545" cy="837622"/>
          </a:xfrm>
          <a:custGeom>
            <a:rect b="b" l="l" r="r" t="t"/>
            <a:pathLst>
              <a:path extrusionOk="0" h="1063647" w="2941644">
                <a:moveTo>
                  <a:pt x="0" y="0"/>
                </a:moveTo>
                <a:lnTo>
                  <a:pt x="2941644" y="0"/>
                </a:lnTo>
                <a:lnTo>
                  <a:pt x="2941644" y="1063647"/>
                </a:lnTo>
                <a:lnTo>
                  <a:pt x="0" y="1063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300" l="-18300" r="-18300" t="-18300"/>
            </a:stretch>
          </a:blipFill>
          <a:ln>
            <a:noFill/>
          </a:ln>
        </p:spPr>
      </p:sp>
      <p:sp>
        <p:nvSpPr>
          <p:cNvPr id="289" name="Google Shape;289;p17"/>
          <p:cNvSpPr/>
          <p:nvPr/>
        </p:nvSpPr>
        <p:spPr>
          <a:xfrm>
            <a:off x="7426238" y="4106271"/>
            <a:ext cx="2316545" cy="837622"/>
          </a:xfrm>
          <a:custGeom>
            <a:rect b="b" l="l" r="r" t="t"/>
            <a:pathLst>
              <a:path extrusionOk="0" h="1063647" w="2941644">
                <a:moveTo>
                  <a:pt x="0" y="0"/>
                </a:moveTo>
                <a:lnTo>
                  <a:pt x="2941644" y="0"/>
                </a:lnTo>
                <a:lnTo>
                  <a:pt x="2941644" y="1063647"/>
                </a:lnTo>
                <a:lnTo>
                  <a:pt x="0" y="1063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300" l="-18300" r="-18300" t="-18300"/>
            </a:stretch>
          </a:blipFill>
          <a:ln>
            <a:noFill/>
          </a:ln>
        </p:spPr>
      </p:sp>
      <p:sp>
        <p:nvSpPr>
          <p:cNvPr id="290" name="Google Shape;290;p17"/>
          <p:cNvSpPr/>
          <p:nvPr/>
        </p:nvSpPr>
        <p:spPr>
          <a:xfrm>
            <a:off x="7426238" y="1914099"/>
            <a:ext cx="2316545" cy="837622"/>
          </a:xfrm>
          <a:custGeom>
            <a:rect b="b" l="l" r="r" t="t"/>
            <a:pathLst>
              <a:path extrusionOk="0" h="1063647" w="2941644">
                <a:moveTo>
                  <a:pt x="0" y="0"/>
                </a:moveTo>
                <a:lnTo>
                  <a:pt x="2941644" y="0"/>
                </a:lnTo>
                <a:lnTo>
                  <a:pt x="2941644" y="1063647"/>
                </a:lnTo>
                <a:lnTo>
                  <a:pt x="0" y="1063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300" l="-18300" r="-18300" t="-18300"/>
            </a:stretch>
          </a:blipFill>
          <a:ln>
            <a:noFill/>
          </a:ln>
        </p:spPr>
      </p:sp>
      <p:sp>
        <p:nvSpPr>
          <p:cNvPr id="291" name="Google Shape;291;p17"/>
          <p:cNvSpPr/>
          <p:nvPr/>
        </p:nvSpPr>
        <p:spPr>
          <a:xfrm>
            <a:off x="2448550" y="1914099"/>
            <a:ext cx="2316545" cy="837622"/>
          </a:xfrm>
          <a:custGeom>
            <a:rect b="b" l="l" r="r" t="t"/>
            <a:pathLst>
              <a:path extrusionOk="0" h="1063647" w="2941644">
                <a:moveTo>
                  <a:pt x="0" y="0"/>
                </a:moveTo>
                <a:lnTo>
                  <a:pt x="2941644" y="0"/>
                </a:lnTo>
                <a:lnTo>
                  <a:pt x="2941644" y="1063647"/>
                </a:lnTo>
                <a:lnTo>
                  <a:pt x="0" y="1063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300" l="-18300" r="-18300" t="-18300"/>
            </a:stretch>
          </a:blipFill>
          <a:ln>
            <a:noFill/>
          </a:ln>
        </p:spPr>
      </p:sp>
      <p:sp>
        <p:nvSpPr>
          <p:cNvPr id="292" name="Google Shape;292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2448578" y="2069640"/>
            <a:ext cx="23172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00" lIns="107900" spcFirstLastPara="1" rIns="107900" wrap="square" tIns="107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Defect prevention</a:t>
            </a:r>
            <a:endParaRPr b="1" sz="20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7426266" y="2069640"/>
            <a:ext cx="23172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00" lIns="107900" spcFirstLastPara="1" rIns="107900" wrap="square" tIns="107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safety</a:t>
            </a:r>
            <a:endParaRPr b="1" sz="20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2448578" y="4210857"/>
            <a:ext cx="23172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00" lIns="107900" spcFirstLastPara="1" rIns="107900" wrap="square" tIns="107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1" sz="20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4946421" y="3156314"/>
            <a:ext cx="23172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00" lIns="107900" spcFirstLastPara="1" rIns="107900" wrap="square" tIns="107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1" sz="20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7426266" y="4261813"/>
            <a:ext cx="23172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900" lIns="107900" spcFirstLastPara="1" rIns="107900" wrap="square" tIns="107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 tracking</a:t>
            </a:r>
            <a:endParaRPr b="1" sz="200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/>
          <p:nvPr/>
        </p:nvSpPr>
        <p:spPr>
          <a:xfrm>
            <a:off x="957376" y="4723539"/>
            <a:ext cx="1963547" cy="709984"/>
          </a:xfrm>
          <a:custGeom>
            <a:rect b="b" l="l" r="r" t="t"/>
            <a:pathLst>
              <a:path extrusionOk="0" h="1063647" w="2941644">
                <a:moveTo>
                  <a:pt x="0" y="0"/>
                </a:moveTo>
                <a:lnTo>
                  <a:pt x="2941644" y="0"/>
                </a:lnTo>
                <a:lnTo>
                  <a:pt x="2941644" y="1063648"/>
                </a:lnTo>
                <a:lnTo>
                  <a:pt x="0" y="1063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01" l="-15101" r="-15101" t="-15101"/>
            </a:stretch>
          </a:blipFill>
          <a:ln>
            <a:noFill/>
          </a:ln>
        </p:spPr>
      </p:sp>
      <p:sp>
        <p:nvSpPr>
          <p:cNvPr id="303" name="Google Shape;303;p18"/>
          <p:cNvSpPr/>
          <p:nvPr/>
        </p:nvSpPr>
        <p:spPr>
          <a:xfrm>
            <a:off x="6743251" y="2606563"/>
            <a:ext cx="1962606" cy="721881"/>
          </a:xfrm>
          <a:custGeom>
            <a:rect b="b" l="l" r="r" t="t"/>
            <a:pathLst>
              <a:path extrusionOk="0" h="1081469" w="2940234">
                <a:moveTo>
                  <a:pt x="0" y="0"/>
                </a:moveTo>
                <a:lnTo>
                  <a:pt x="2940234" y="0"/>
                </a:lnTo>
                <a:lnTo>
                  <a:pt x="2940234" y="1081468"/>
                </a:lnTo>
                <a:lnTo>
                  <a:pt x="0" y="1081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8759" l="-38759" r="-38759" t="-38759"/>
            </a:stretch>
          </a:blipFill>
          <a:ln>
            <a:noFill/>
          </a:ln>
        </p:spPr>
      </p:sp>
      <p:sp>
        <p:nvSpPr>
          <p:cNvPr id="304" name="Google Shape;304;p18"/>
          <p:cNvSpPr/>
          <p:nvPr/>
        </p:nvSpPr>
        <p:spPr>
          <a:xfrm>
            <a:off x="3105123" y="4723539"/>
            <a:ext cx="661226" cy="661225"/>
          </a:xfrm>
          <a:custGeom>
            <a:rect b="b" l="l" r="r" t="t"/>
            <a:pathLst>
              <a:path extrusionOk="0" h="990600" w="990600">
                <a:moveTo>
                  <a:pt x="0" y="0"/>
                </a:moveTo>
                <a:lnTo>
                  <a:pt x="990600" y="0"/>
                </a:lnTo>
                <a:lnTo>
                  <a:pt x="9906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8"/>
          <p:cNvSpPr/>
          <p:nvPr/>
        </p:nvSpPr>
        <p:spPr>
          <a:xfrm>
            <a:off x="3953631" y="4723539"/>
            <a:ext cx="476845" cy="661225"/>
          </a:xfrm>
          <a:custGeom>
            <a:rect b="b" l="l" r="r" t="t"/>
            <a:pathLst>
              <a:path extrusionOk="0" h="990600" w="714375">
                <a:moveTo>
                  <a:pt x="0" y="0"/>
                </a:moveTo>
                <a:lnTo>
                  <a:pt x="714375" y="0"/>
                </a:lnTo>
                <a:lnTo>
                  <a:pt x="714375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8890998" y="2555762"/>
            <a:ext cx="724805" cy="724805"/>
          </a:xfrm>
          <a:custGeom>
            <a:rect b="b" l="l" r="r" t="t"/>
            <a:pathLst>
              <a:path extrusionOk="0" h="1085850" w="1085850">
                <a:moveTo>
                  <a:pt x="0" y="0"/>
                </a:moveTo>
                <a:lnTo>
                  <a:pt x="1085850" y="0"/>
                </a:lnTo>
                <a:lnTo>
                  <a:pt x="10858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/>
          <p:nvPr/>
        </p:nvSpPr>
        <p:spPr>
          <a:xfrm>
            <a:off x="9734420" y="2625607"/>
            <a:ext cx="584930" cy="584930"/>
          </a:xfrm>
          <a:custGeom>
            <a:rect b="b" l="l" r="r" t="t"/>
            <a:pathLst>
              <a:path extrusionOk="0" h="876300" w="876300">
                <a:moveTo>
                  <a:pt x="0" y="0"/>
                </a:moveTo>
                <a:lnTo>
                  <a:pt x="876300" y="0"/>
                </a:lnTo>
                <a:lnTo>
                  <a:pt x="8763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8"/>
          <p:cNvSpPr/>
          <p:nvPr/>
        </p:nvSpPr>
        <p:spPr>
          <a:xfrm>
            <a:off x="962751" y="2545803"/>
            <a:ext cx="1962606" cy="721880"/>
          </a:xfrm>
          <a:custGeom>
            <a:rect b="b" l="l" r="r" t="t"/>
            <a:pathLst>
              <a:path extrusionOk="0" h="1081468" w="2940234">
                <a:moveTo>
                  <a:pt x="0" y="0"/>
                </a:moveTo>
                <a:lnTo>
                  <a:pt x="2940234" y="0"/>
                </a:lnTo>
                <a:lnTo>
                  <a:pt x="2940234" y="1081468"/>
                </a:lnTo>
                <a:lnTo>
                  <a:pt x="0" y="1081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088" l="-21089" r="-21088" t="-21089"/>
            </a:stretch>
          </a:blipFill>
          <a:ln>
            <a:noFill/>
          </a:ln>
        </p:spPr>
      </p:sp>
      <p:sp>
        <p:nvSpPr>
          <p:cNvPr id="309" name="Google Shape;309;p18"/>
          <p:cNvSpPr/>
          <p:nvPr/>
        </p:nvSpPr>
        <p:spPr>
          <a:xfrm>
            <a:off x="6743168" y="1538908"/>
            <a:ext cx="1962606" cy="721880"/>
          </a:xfrm>
          <a:custGeom>
            <a:rect b="b" l="l" r="r" t="t"/>
            <a:pathLst>
              <a:path extrusionOk="0" h="1081468" w="2940234">
                <a:moveTo>
                  <a:pt x="0" y="0"/>
                </a:moveTo>
                <a:lnTo>
                  <a:pt x="2940234" y="0"/>
                </a:lnTo>
                <a:lnTo>
                  <a:pt x="2940234" y="1081469"/>
                </a:lnTo>
                <a:lnTo>
                  <a:pt x="0" y="1081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1427" l="-11427" r="-11427" t="-11427"/>
            </a:stretch>
          </a:blipFill>
          <a:ln>
            <a:noFill/>
          </a:ln>
        </p:spPr>
      </p:sp>
      <p:sp>
        <p:nvSpPr>
          <p:cNvPr id="310" name="Google Shape;310;p18"/>
          <p:cNvSpPr/>
          <p:nvPr/>
        </p:nvSpPr>
        <p:spPr>
          <a:xfrm>
            <a:off x="8875893" y="1538897"/>
            <a:ext cx="680299" cy="680299"/>
          </a:xfrm>
          <a:custGeom>
            <a:rect b="b" l="l" r="r" t="t"/>
            <a:pathLst>
              <a:path extrusionOk="0" h="1019175" w="1019175">
                <a:moveTo>
                  <a:pt x="0" y="0"/>
                </a:moveTo>
                <a:lnTo>
                  <a:pt x="1019175" y="0"/>
                </a:lnTo>
                <a:lnTo>
                  <a:pt x="1019175" y="1019175"/>
                </a:lnTo>
                <a:lnTo>
                  <a:pt x="0" y="1019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957381" y="3549973"/>
            <a:ext cx="1962606" cy="721880"/>
          </a:xfrm>
          <a:custGeom>
            <a:rect b="b" l="l" r="r" t="t"/>
            <a:pathLst>
              <a:path extrusionOk="0" h="1081468" w="2940234">
                <a:moveTo>
                  <a:pt x="0" y="0"/>
                </a:moveTo>
                <a:lnTo>
                  <a:pt x="2940234" y="0"/>
                </a:lnTo>
                <a:lnTo>
                  <a:pt x="2940234" y="1081469"/>
                </a:lnTo>
                <a:lnTo>
                  <a:pt x="0" y="1081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94818" l="-94818" r="-94818" t="-94818"/>
            </a:stretch>
          </a:blipFill>
          <a:ln>
            <a:noFill/>
          </a:ln>
        </p:spPr>
      </p:sp>
      <p:sp>
        <p:nvSpPr>
          <p:cNvPr id="312" name="Google Shape;312;p18"/>
          <p:cNvSpPr/>
          <p:nvPr/>
        </p:nvSpPr>
        <p:spPr>
          <a:xfrm>
            <a:off x="3062622" y="3589788"/>
            <a:ext cx="858322" cy="642152"/>
          </a:xfrm>
          <a:custGeom>
            <a:rect b="b" l="l" r="r" t="t"/>
            <a:pathLst>
              <a:path extrusionOk="0" h="962025" w="1285875">
                <a:moveTo>
                  <a:pt x="0" y="0"/>
                </a:moveTo>
                <a:lnTo>
                  <a:pt x="1285875" y="0"/>
                </a:lnTo>
                <a:lnTo>
                  <a:pt x="1285875" y="962025"/>
                </a:lnTo>
                <a:lnTo>
                  <a:pt x="0" y="96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8"/>
          <p:cNvSpPr/>
          <p:nvPr/>
        </p:nvSpPr>
        <p:spPr>
          <a:xfrm>
            <a:off x="6743243" y="3669853"/>
            <a:ext cx="1962606" cy="721880"/>
          </a:xfrm>
          <a:custGeom>
            <a:rect b="b" l="l" r="r" t="t"/>
            <a:pathLst>
              <a:path extrusionOk="0" h="1081468" w="2940234">
                <a:moveTo>
                  <a:pt x="0" y="0"/>
                </a:moveTo>
                <a:lnTo>
                  <a:pt x="2940234" y="0"/>
                </a:lnTo>
                <a:lnTo>
                  <a:pt x="2940234" y="1081468"/>
                </a:lnTo>
                <a:lnTo>
                  <a:pt x="0" y="1081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30138" l="-30136" r="-30138" t="-30136"/>
            </a:stretch>
          </a:blipFill>
          <a:ln>
            <a:noFill/>
          </a:ln>
        </p:spPr>
      </p:sp>
      <p:sp>
        <p:nvSpPr>
          <p:cNvPr id="314" name="Google Shape;314;p18"/>
          <p:cNvSpPr/>
          <p:nvPr/>
        </p:nvSpPr>
        <p:spPr>
          <a:xfrm>
            <a:off x="962751" y="1532558"/>
            <a:ext cx="1963547" cy="709984"/>
          </a:xfrm>
          <a:custGeom>
            <a:rect b="b" l="l" r="r" t="t"/>
            <a:pathLst>
              <a:path extrusionOk="0" h="1063647" w="2941644">
                <a:moveTo>
                  <a:pt x="0" y="0"/>
                </a:moveTo>
                <a:lnTo>
                  <a:pt x="2941644" y="0"/>
                </a:lnTo>
                <a:lnTo>
                  <a:pt x="2941644" y="1063647"/>
                </a:lnTo>
                <a:lnTo>
                  <a:pt x="0" y="1063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300" l="-18300" r="-18300" t="-18300"/>
            </a:stretch>
          </a:blipFill>
          <a:ln>
            <a:noFill/>
          </a:ln>
        </p:spPr>
      </p:sp>
      <p:sp>
        <p:nvSpPr>
          <p:cNvPr id="315" name="Google Shape;315;p18"/>
          <p:cNvSpPr txBox="1"/>
          <p:nvPr/>
        </p:nvSpPr>
        <p:spPr>
          <a:xfrm>
            <a:off x="164472" y="6589382"/>
            <a:ext cx="1062774" cy="190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3"/>
              <a:buFont typeface="Arial"/>
              <a:buNone/>
            </a:pPr>
            <a:r>
              <a:rPr b="1" i="0" lang="vi-VN" sz="1133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rPr>
              <a:t>Election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963200" y="4806975"/>
            <a:ext cx="1960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9"/>
              <a:buFont typeface="Arial"/>
              <a:buNone/>
            </a:pPr>
            <a:r>
              <a:rPr b="1" i="0" lang="vi-VN" sz="173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Document &amp; </a:t>
            </a:r>
            <a:r>
              <a:rPr b="1" lang="vi-VN" sz="17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Diagramming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1270491" y="1749771"/>
            <a:ext cx="137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9"/>
              <a:buFont typeface="Arial"/>
              <a:buNone/>
            </a:pPr>
            <a:r>
              <a:rPr b="1" i="0" lang="vi-VN" sz="173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1481988" y="2785223"/>
            <a:ext cx="948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7"/>
              <a:buFont typeface="Arial"/>
              <a:buNone/>
            </a:pPr>
            <a:r>
              <a:rPr b="1" i="0" lang="vi-VN" sz="173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6937339" y="2785582"/>
            <a:ext cx="1603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7"/>
              <a:buFont typeface="Arial"/>
              <a:buNone/>
            </a:pPr>
            <a:r>
              <a:rPr b="1" i="0" lang="vi-VN" sz="173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1286637" y="3796088"/>
            <a:ext cx="13203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7"/>
              <a:buFont typeface="Arial"/>
              <a:buNone/>
            </a:pPr>
            <a:r>
              <a:rPr b="1" lang="vi-VN" sz="17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IDEs/Editors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6715538" y="3897050"/>
            <a:ext cx="1961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7"/>
              <a:buFont typeface="Arial"/>
              <a:buNone/>
            </a:pPr>
            <a:r>
              <a:rPr b="1" lang="vi-VN" sz="17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6743250" y="1753450"/>
            <a:ext cx="1960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7"/>
              <a:buFont typeface="Arial"/>
              <a:buNone/>
            </a:pPr>
            <a:r>
              <a:rPr b="1" lang="vi-VN" sz="17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Version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537000" y="30175"/>
            <a:ext cx="426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54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PROJECT TOOLS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4" name="Google Shape;324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stgreSQL | Integrations | OneTrust" id="325" name="Google Shape;325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955010" y="2473518"/>
            <a:ext cx="951266" cy="937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features in Spring Boot 3 and Spring 6 and Upgrade to Spring boot 3 and" id="326" name="Google Shape;326;p18"/>
          <p:cNvPicPr preferRelativeResize="0"/>
          <p:nvPr/>
        </p:nvPicPr>
        <p:blipFill rotWithShape="1">
          <a:blip r:embed="rId15">
            <a:alphaModFix/>
          </a:blip>
          <a:srcRect b="0" l="17138" r="18449" t="0"/>
          <a:stretch/>
        </p:blipFill>
        <p:spPr>
          <a:xfrm>
            <a:off x="4066344" y="1542806"/>
            <a:ext cx="876749" cy="713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63589" y="3590027"/>
            <a:ext cx="679452" cy="67945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8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18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9" name="Google Shape;329;p18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330" name="Google Shape;330;p18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331" name="Google Shape;331;p18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32" name="Google Shape;332;p1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438885" y="2616085"/>
            <a:ext cx="603251" cy="60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035775" y="2647736"/>
            <a:ext cx="937900" cy="619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110488" y="1424462"/>
            <a:ext cx="925274" cy="92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954100" y="3617125"/>
            <a:ext cx="827150" cy="8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8"/>
          <p:cNvSpPr/>
          <p:nvPr/>
        </p:nvSpPr>
        <p:spPr>
          <a:xfrm>
            <a:off x="9509389" y="1589261"/>
            <a:ext cx="1034975" cy="579586"/>
          </a:xfrm>
          <a:custGeom>
            <a:rect b="b" l="l" r="r" t="t"/>
            <a:pathLst>
              <a:path extrusionOk="0" h="868294" w="1550524">
                <a:moveTo>
                  <a:pt x="0" y="0"/>
                </a:moveTo>
                <a:lnTo>
                  <a:pt x="1550525" y="0"/>
                </a:lnTo>
                <a:lnTo>
                  <a:pt x="1550525" y="868294"/>
                </a:lnTo>
                <a:lnTo>
                  <a:pt x="0" y="8682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37" name="Google Shape;337;p18"/>
          <p:cNvPicPr preferRelativeResize="0"/>
          <p:nvPr/>
        </p:nvPicPr>
        <p:blipFill rotWithShape="1">
          <a:blip r:embed="rId22">
            <a:alphaModFix/>
          </a:blip>
          <a:srcRect b="2047" l="12715" r="12842" t="0"/>
          <a:stretch/>
        </p:blipFill>
        <p:spPr>
          <a:xfrm>
            <a:off x="4666325" y="4691750"/>
            <a:ext cx="550866" cy="72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" name="Google Shape;343;p19"/>
          <p:cNvGrpSpPr/>
          <p:nvPr/>
        </p:nvGrpSpPr>
        <p:grpSpPr>
          <a:xfrm>
            <a:off x="1046480" y="2465407"/>
            <a:ext cx="10099040" cy="2854960"/>
            <a:chOff x="1046480" y="2743200"/>
            <a:chExt cx="10099040" cy="2854960"/>
          </a:xfrm>
        </p:grpSpPr>
        <p:sp>
          <p:nvSpPr>
            <p:cNvPr id="344" name="Google Shape;344;p19"/>
            <p:cNvSpPr/>
            <p:nvPr/>
          </p:nvSpPr>
          <p:spPr>
            <a:xfrm>
              <a:off x="1046480" y="2743200"/>
              <a:ext cx="10099040" cy="2854960"/>
            </a:xfrm>
            <a:prstGeom prst="horizontalScroll">
              <a:avLst>
                <a:gd fmla="val 12500" name="adj"/>
              </a:avLst>
            </a:prstGeom>
            <a:solidFill>
              <a:srgbClr val="FF9933"/>
            </a:solidFill>
            <a:ln cap="flat" cmpd="sng" w="127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9"/>
            <p:cNvSpPr txBox="1"/>
            <p:nvPr/>
          </p:nvSpPr>
          <p:spPr>
            <a:xfrm>
              <a:off x="1904367" y="3422767"/>
              <a:ext cx="9241153" cy="105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50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vi-VN" sz="4400" u="none" cap="none" strike="noStrike">
                  <a:solidFill>
                    <a:srgbClr val="0C0C0C"/>
                  </a:solidFill>
                  <a:latin typeface="Roboto"/>
                  <a:ea typeface="Roboto"/>
                  <a:cs typeface="Roboto"/>
                  <a:sym typeface="Roboto"/>
                </a:rPr>
                <a:t>III. REQUIRMENT SPECIFICATION</a:t>
              </a:r>
              <a:endParaRPr b="1" i="0" sz="4400" u="none" cap="none" strike="noStrike">
                <a:solidFill>
                  <a:srgbClr val="0C0C0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6" name="Google Shape;346;p19"/>
          <p:cNvGrpSpPr/>
          <p:nvPr/>
        </p:nvGrpSpPr>
        <p:grpSpPr>
          <a:xfrm>
            <a:off x="4282440" y="610236"/>
            <a:ext cx="3784500" cy="1301400"/>
            <a:chOff x="4282440" y="1026925"/>
            <a:chExt cx="3784500" cy="1301400"/>
          </a:xfrm>
        </p:grpSpPr>
        <p:sp>
          <p:nvSpPr>
            <p:cNvPr id="347" name="Google Shape;347;p19"/>
            <p:cNvSpPr txBox="1"/>
            <p:nvPr/>
          </p:nvSpPr>
          <p:spPr>
            <a:xfrm>
              <a:off x="4282440" y="1712725"/>
              <a:ext cx="3784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65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lang="vi-VN" sz="4000">
                  <a:solidFill>
                    <a:srgbClr val="FF993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1" i="0" sz="40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8" name="Google Shape;348;p19"/>
            <p:cNvSpPr txBox="1"/>
            <p:nvPr/>
          </p:nvSpPr>
          <p:spPr>
            <a:xfrm>
              <a:off x="5094605" y="1026925"/>
              <a:ext cx="2002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942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vi-VN" sz="2400" u="none" cap="none" strike="noStrike">
                  <a:solidFill>
                    <a:srgbClr val="262626"/>
                  </a:solidFill>
                  <a:latin typeface="Roboto"/>
                  <a:ea typeface="Roboto"/>
                  <a:cs typeface="Roboto"/>
                  <a:sym typeface="Roboto"/>
                </a:rPr>
                <a:t>SEP490_G</a:t>
              </a:r>
              <a:r>
                <a:rPr b="1" lang="vi-VN" sz="2400">
                  <a:solidFill>
                    <a:srgbClr val="262626"/>
                  </a:solidFill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b="1" i="0" sz="2400" u="none" cap="none" strike="noStrik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9" name="Google Shape;349;p19"/>
          <p:cNvGrpSpPr/>
          <p:nvPr/>
        </p:nvGrpSpPr>
        <p:grpSpPr>
          <a:xfrm>
            <a:off x="-13848" y="6355794"/>
            <a:ext cx="1702430" cy="502155"/>
            <a:chOff x="-13848" y="6355794"/>
            <a:chExt cx="1702430" cy="502155"/>
          </a:xfrm>
        </p:grpSpPr>
        <p:sp>
          <p:nvSpPr>
            <p:cNvPr id="350" name="Google Shape;350;p19"/>
            <p:cNvSpPr/>
            <p:nvPr/>
          </p:nvSpPr>
          <p:spPr>
            <a:xfrm>
              <a:off x="-13848" y="6355794"/>
              <a:ext cx="1702430" cy="502155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351" name="Google Shape;351;p19"/>
            <p:cNvSpPr txBox="1"/>
            <p:nvPr/>
          </p:nvSpPr>
          <p:spPr>
            <a:xfrm>
              <a:off x="202462" y="6466672"/>
              <a:ext cx="13764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52" name="Google Shape;3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9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20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19"/>
          <p:cNvSpPr txBox="1"/>
          <p:nvPr/>
        </p:nvSpPr>
        <p:spPr>
          <a:xfrm>
            <a:off x="1271800" y="1066800"/>
            <a:ext cx="9805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3500">
                <a:solidFill>
                  <a:srgbClr val="F47124"/>
                </a:solidFill>
              </a:rPr>
              <a:t>School Facilities and Equipment Management System</a:t>
            </a:r>
            <a:endParaRPr b="1" sz="3600">
              <a:solidFill>
                <a:srgbClr val="F47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428843" y="177052"/>
            <a:ext cx="391751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vi-VN" sz="40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Context Diagram</a:t>
            </a:r>
            <a:endParaRPr b="1" i="0" sz="40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1" name="Google Shape;3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0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566" y="792600"/>
            <a:ext cx="10699182" cy="5490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20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365" name="Google Shape;365;p20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537001" y="96492"/>
            <a:ext cx="5406599" cy="83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4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vi-VN" sz="40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Main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537000" y="1034525"/>
            <a:ext cx="334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/>
              <a:t>Procurement needs and planning</a:t>
            </a:r>
            <a:r>
              <a:rPr lang="vi-VN" sz="1800">
                <a:solidFill>
                  <a:schemeClr val="dk1"/>
                </a:solidFill>
              </a:rPr>
              <a:t>  </a:t>
            </a:r>
            <a:r>
              <a:rPr b="1" i="0" lang="vi-VN" sz="1800" u="none" cap="none" strike="noStrike">
                <a:solidFill>
                  <a:srgbClr val="000000"/>
                </a:solidFill>
              </a:rPr>
              <a:t>Workflow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374" name="Google Shape;3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22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6" name="Google Shape;3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025" y="1067550"/>
            <a:ext cx="6682696" cy="535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21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378" name="Google Shape;378;p21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379" name="Google Shape;379;p21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537001" y="96492"/>
            <a:ext cx="5406599" cy="83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4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vi-VN" sz="40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Main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537001" y="1034520"/>
            <a:ext cx="61024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-VN" sz="1800">
                <a:solidFill>
                  <a:schemeClr val="dk1"/>
                </a:solidFill>
              </a:rPr>
              <a:t>Equipment receipt and asset registration</a:t>
            </a:r>
            <a:r>
              <a:rPr lang="vi-VN" sz="1800">
                <a:solidFill>
                  <a:schemeClr val="dk1"/>
                </a:solidFill>
              </a:rPr>
              <a:t> </a:t>
            </a:r>
            <a:r>
              <a:rPr b="1" lang="vi-VN" sz="1800"/>
              <a:t>w</a:t>
            </a:r>
            <a:r>
              <a:rPr b="1" i="0" lang="vi-VN" sz="1800" u="none" cap="none" strike="noStrike">
                <a:solidFill>
                  <a:srgbClr val="000000"/>
                </a:solidFill>
              </a:rPr>
              <a:t>orkflow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387" name="Google Shape;3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23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9" name="Google Shape;38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1750" y="1657852"/>
            <a:ext cx="5638800" cy="4250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22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391" name="Google Shape;391;p22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392" name="Google Shape;392;p22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537001" y="96492"/>
            <a:ext cx="5406599" cy="83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4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vi-VN" sz="40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Main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 txBox="1"/>
          <p:nvPr/>
        </p:nvSpPr>
        <p:spPr>
          <a:xfrm>
            <a:off x="537001" y="1034520"/>
            <a:ext cx="61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-VN" sz="1800">
                <a:solidFill>
                  <a:schemeClr val="dk1"/>
                </a:solidFill>
              </a:rPr>
              <a:t>Inventory </a:t>
            </a:r>
            <a:r>
              <a:rPr b="1" lang="vi-VN" sz="1800" u="none" cap="none" strike="noStrike">
                <a:solidFill>
                  <a:srgbClr val="000000"/>
                </a:solidFill>
              </a:rPr>
              <a:t>Workflow</a:t>
            </a:r>
            <a:endParaRPr b="1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400" name="Google Shape;4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3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24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02" name="Google Shape;40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7500" y="1034527"/>
            <a:ext cx="6780575" cy="5592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3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404" name="Google Shape;404;p23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405" name="Google Shape;405;p23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663761" y="488453"/>
            <a:ext cx="288294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-13848" y="395961"/>
            <a:ext cx="585798" cy="1676679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613401" y="1654600"/>
            <a:ext cx="233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vi-VN" sz="1800" u="none" cap="none" strike="noStrike">
                <a:solidFill>
                  <a:schemeClr val="dk1"/>
                </a:solidFill>
              </a:rPr>
              <a:t>Overall Use Case: </a:t>
            </a:r>
            <a:r>
              <a:rPr lang="vi-VN" sz="1800">
                <a:solidFill>
                  <a:schemeClr val="dk1"/>
                </a:solidFill>
              </a:rPr>
              <a:t>DOET Side </a:t>
            </a:r>
            <a:endParaRPr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414" name="Google Shape;414;p26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27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5" name="Google Shape;4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" name="Google Shape;416;p26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417" name="Google Shape;417;p26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418" name="Google Shape;418;p26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19" name="Google Shape;41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8800" y="837453"/>
            <a:ext cx="5391236" cy="5408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h246c859856c8b688_3_7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h246c859856c8b688_3_79"/>
          <p:cNvSpPr txBox="1"/>
          <p:nvPr/>
        </p:nvSpPr>
        <p:spPr>
          <a:xfrm>
            <a:off x="663761" y="488453"/>
            <a:ext cx="28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h246c859856c8b688_3_79"/>
          <p:cNvSpPr/>
          <p:nvPr/>
        </p:nvSpPr>
        <p:spPr>
          <a:xfrm>
            <a:off x="-13848" y="395961"/>
            <a:ext cx="585900" cy="1676700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h246c859856c8b688_3_79"/>
          <p:cNvSpPr txBox="1"/>
          <p:nvPr/>
        </p:nvSpPr>
        <p:spPr>
          <a:xfrm>
            <a:off x="613401" y="1654600"/>
            <a:ext cx="218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u="none" cap="none" strike="noStrike">
                <a:solidFill>
                  <a:schemeClr val="dk1"/>
                </a:solidFill>
              </a:rPr>
              <a:t>Overall Use Case:</a:t>
            </a:r>
            <a:endParaRPr sz="1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School Side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28" name="Google Shape;428;h246c859856c8b688_3_79"/>
          <p:cNvSpPr txBox="1"/>
          <p:nvPr/>
        </p:nvSpPr>
        <p:spPr>
          <a:xfrm>
            <a:off x="11165107" y="6423659"/>
            <a:ext cx="6795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27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9" name="Google Shape;429;h246c859856c8b688_3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2" cy="53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h246c859856c8b688_3_79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431" name="Google Shape;431;h246c859856c8b688_3_79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432" name="Google Shape;432;h246c859856c8b688_3_79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33" name="Google Shape;433;h246c859856c8b688_3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3875" y="765403"/>
            <a:ext cx="3884258" cy="5842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h246c859856c8b688_3_6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h246c859856c8b688_3_66"/>
          <p:cNvSpPr txBox="1"/>
          <p:nvPr/>
        </p:nvSpPr>
        <p:spPr>
          <a:xfrm>
            <a:off x="663761" y="488453"/>
            <a:ext cx="28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h246c859856c8b688_3_66"/>
          <p:cNvSpPr/>
          <p:nvPr/>
        </p:nvSpPr>
        <p:spPr>
          <a:xfrm>
            <a:off x="-13848" y="395961"/>
            <a:ext cx="585900" cy="1676700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h246c859856c8b688_3_66"/>
          <p:cNvSpPr txBox="1"/>
          <p:nvPr/>
        </p:nvSpPr>
        <p:spPr>
          <a:xfrm>
            <a:off x="613401" y="1654600"/>
            <a:ext cx="24870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Use Cases For Signed-in User</a:t>
            </a:r>
            <a:endParaRPr i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h246c859856c8b688_3_66"/>
          <p:cNvSpPr txBox="1"/>
          <p:nvPr/>
        </p:nvSpPr>
        <p:spPr>
          <a:xfrm>
            <a:off x="11165107" y="6423659"/>
            <a:ext cx="6795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27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3" name="Google Shape;443;h246c859856c8b688_3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2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h246c859856c8b688_3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3100" y="710450"/>
            <a:ext cx="3708400" cy="5842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h246c859856c8b688_3_66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446" name="Google Shape;446;h246c859856c8b688_3_66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447" name="Google Shape;447;h246c859856c8b688_3_66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-13848" y="395961"/>
            <a:ext cx="585798" cy="1676679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7"/>
          <p:cNvSpPr txBox="1"/>
          <p:nvPr/>
        </p:nvSpPr>
        <p:spPr>
          <a:xfrm>
            <a:off x="608300" y="1596450"/>
            <a:ext cx="242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u="none" cap="none" strike="noStrike">
                <a:solidFill>
                  <a:schemeClr val="dk1"/>
                </a:solidFill>
              </a:rPr>
              <a:t>Use Case For </a:t>
            </a:r>
            <a:endParaRPr sz="1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System Administrator </a:t>
            </a:r>
            <a:endParaRPr sz="1800" u="none" cap="none" strike="noStrike">
              <a:solidFill>
                <a:srgbClr val="000000"/>
              </a:solidFill>
            </a:endParaRPr>
          </a:p>
        </p:txBody>
      </p:sp>
      <p:pic>
        <p:nvPicPr>
          <p:cNvPr id="455" name="Google Shape;4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7"/>
          <p:cNvSpPr txBox="1"/>
          <p:nvPr/>
        </p:nvSpPr>
        <p:spPr>
          <a:xfrm>
            <a:off x="663761" y="488453"/>
            <a:ext cx="288294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7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28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8" name="Google Shape;4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400" y="784103"/>
            <a:ext cx="4586556" cy="5842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27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460" name="Google Shape;460;p27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461" name="Google Shape;461;p27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-13848" y="395961"/>
            <a:ext cx="585798" cy="1676679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8"/>
          <p:cNvSpPr txBox="1"/>
          <p:nvPr/>
        </p:nvSpPr>
        <p:spPr>
          <a:xfrm>
            <a:off x="663761" y="488453"/>
            <a:ext cx="288294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28"/>
          <p:cNvSpPr txBox="1"/>
          <p:nvPr/>
        </p:nvSpPr>
        <p:spPr>
          <a:xfrm>
            <a:off x="585919" y="1574082"/>
            <a:ext cx="216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u="none" cap="none" strike="noStrike">
                <a:solidFill>
                  <a:schemeClr val="dk1"/>
                </a:solidFill>
              </a:rPr>
              <a:t>Use Case For </a:t>
            </a:r>
            <a:r>
              <a:rPr lang="vi-VN" sz="1800">
                <a:solidFill>
                  <a:schemeClr val="dk1"/>
                </a:solidFill>
              </a:rPr>
              <a:t>DOET Leader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1" name="Google Shape;471;p28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29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2" name="Google Shape;4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500" y="1943428"/>
            <a:ext cx="5638800" cy="3279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3" name="Google Shape;473;p28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474" name="Google Shape;474;p28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475" name="Google Shape;475;p28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-13848" y="395961"/>
            <a:ext cx="585798" cy="1676679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9"/>
          <p:cNvSpPr txBox="1"/>
          <p:nvPr/>
        </p:nvSpPr>
        <p:spPr>
          <a:xfrm>
            <a:off x="663761" y="488453"/>
            <a:ext cx="288294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29"/>
          <p:cNvSpPr txBox="1"/>
          <p:nvPr/>
        </p:nvSpPr>
        <p:spPr>
          <a:xfrm>
            <a:off x="623427" y="1652508"/>
            <a:ext cx="216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u="none" cap="none" strike="noStrike">
                <a:solidFill>
                  <a:schemeClr val="dk1"/>
                </a:solidFill>
              </a:rPr>
              <a:t>Use Case For </a:t>
            </a:r>
            <a:r>
              <a:rPr lang="vi-VN" sz="1800">
                <a:solidFill>
                  <a:schemeClr val="dk1"/>
                </a:solidFill>
              </a:rPr>
              <a:t>DOET Officer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5" name="Google Shape;485;p29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30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86" name="Google Shape;486;p29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487" name="Google Shape;487;p29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488" name="Google Shape;488;p29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89" name="Google Shape;4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9900" y="862853"/>
            <a:ext cx="3818819" cy="5842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-13848" y="395961"/>
            <a:ext cx="585798" cy="1676679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663761" y="488453"/>
            <a:ext cx="288294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30"/>
          <p:cNvSpPr txBox="1"/>
          <p:nvPr/>
        </p:nvSpPr>
        <p:spPr>
          <a:xfrm>
            <a:off x="633281" y="1642348"/>
            <a:ext cx="216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u="none" cap="none" strike="noStrike">
                <a:solidFill>
                  <a:schemeClr val="dk1"/>
                </a:solidFill>
              </a:rPr>
              <a:t>Use Case For </a:t>
            </a:r>
            <a:r>
              <a:rPr lang="vi-VN" sz="1800">
                <a:solidFill>
                  <a:schemeClr val="dk1"/>
                </a:solidFill>
              </a:rPr>
              <a:t> School Leader </a:t>
            </a:r>
            <a:endParaRPr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499" name="Google Shape;499;p30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31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0" name="Google Shape;500;p30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501" name="Google Shape;501;p30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502" name="Google Shape;502;p30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03" name="Google Shape;50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0575" y="545228"/>
            <a:ext cx="4611907" cy="5649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-13848" y="395961"/>
            <a:ext cx="585798" cy="1676679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1"/>
          <p:cNvSpPr txBox="1"/>
          <p:nvPr/>
        </p:nvSpPr>
        <p:spPr>
          <a:xfrm>
            <a:off x="663761" y="488453"/>
            <a:ext cx="288294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608309" y="1632188"/>
            <a:ext cx="216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u="none" cap="none" strike="noStrike">
                <a:solidFill>
                  <a:schemeClr val="dk1"/>
                </a:solidFill>
              </a:rPr>
              <a:t>Use Case For </a:t>
            </a:r>
            <a:r>
              <a:rPr lang="vi-VN" sz="1800">
                <a:solidFill>
                  <a:schemeClr val="dk1"/>
                </a:solidFill>
              </a:rPr>
              <a:t>School Leader </a:t>
            </a:r>
            <a:endParaRPr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11165107" y="6423659"/>
            <a:ext cx="679450" cy="20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32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14" name="Google Shape;514;p31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515" name="Google Shape;515;p31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516" name="Google Shape;516;p31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17" name="Google Shape;5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0050" y="773953"/>
            <a:ext cx="4611907" cy="5791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246c859856c8b688_3_2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h246c859856c8b688_3_24"/>
          <p:cNvSpPr/>
          <p:nvPr/>
        </p:nvSpPr>
        <p:spPr>
          <a:xfrm>
            <a:off x="-13848" y="395961"/>
            <a:ext cx="585900" cy="1676700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h246c859856c8b688_3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2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h246c859856c8b688_3_24"/>
          <p:cNvSpPr txBox="1"/>
          <p:nvPr/>
        </p:nvSpPr>
        <p:spPr>
          <a:xfrm>
            <a:off x="663761" y="488453"/>
            <a:ext cx="28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h246c859856c8b688_3_24"/>
          <p:cNvSpPr txBox="1"/>
          <p:nvPr/>
        </p:nvSpPr>
        <p:spPr>
          <a:xfrm>
            <a:off x="608297" y="1632200"/>
            <a:ext cx="280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u="none" cap="none" strike="noStrike">
                <a:solidFill>
                  <a:schemeClr val="dk1"/>
                </a:solidFill>
              </a:rPr>
              <a:t>Use Case For </a:t>
            </a:r>
            <a:endParaRPr sz="1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School Equipment Officer </a:t>
            </a:r>
            <a:endParaRPr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527" name="Google Shape;527;h246c859856c8b688_3_24"/>
          <p:cNvSpPr txBox="1"/>
          <p:nvPr/>
        </p:nvSpPr>
        <p:spPr>
          <a:xfrm>
            <a:off x="11165107" y="6423659"/>
            <a:ext cx="6795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32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28" name="Google Shape;528;h246c859856c8b688_3_24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529" name="Google Shape;529;h246c859856c8b688_3_24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530" name="Google Shape;530;h246c859856c8b688_3_24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31" name="Google Shape;531;h246c859856c8b688_3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6750" y="1535953"/>
            <a:ext cx="5638800" cy="4369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h246c859856c8b688_3_10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h246c859856c8b688_3_103"/>
          <p:cNvSpPr/>
          <p:nvPr/>
        </p:nvSpPr>
        <p:spPr>
          <a:xfrm>
            <a:off x="-13848" y="395961"/>
            <a:ext cx="585900" cy="1676700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h246c859856c8b688_3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2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h246c859856c8b688_3_103"/>
          <p:cNvSpPr txBox="1"/>
          <p:nvPr/>
        </p:nvSpPr>
        <p:spPr>
          <a:xfrm>
            <a:off x="663761" y="488453"/>
            <a:ext cx="28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h246c859856c8b688_3_103"/>
          <p:cNvSpPr txBox="1"/>
          <p:nvPr/>
        </p:nvSpPr>
        <p:spPr>
          <a:xfrm>
            <a:off x="608297" y="1632200"/>
            <a:ext cx="280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u="none" cap="none" strike="noStrike">
                <a:solidFill>
                  <a:schemeClr val="dk1"/>
                </a:solidFill>
              </a:rPr>
              <a:t>Use Case For </a:t>
            </a:r>
            <a:endParaRPr sz="1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School Equipment Officer </a:t>
            </a:r>
            <a:endParaRPr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541" name="Google Shape;541;h246c859856c8b688_3_103"/>
          <p:cNvSpPr txBox="1"/>
          <p:nvPr/>
        </p:nvSpPr>
        <p:spPr>
          <a:xfrm>
            <a:off x="11165107" y="6423659"/>
            <a:ext cx="6795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32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42" name="Google Shape;542;h246c859856c8b688_3_103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543" name="Google Shape;543;h246c859856c8b688_3_103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544" name="Google Shape;544;h246c859856c8b688_3_103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45" name="Google Shape;545;h246c859856c8b688_3_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2663" y="488450"/>
            <a:ext cx="3806674" cy="62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h246c859856c8b688_3_3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h246c859856c8b688_3_37"/>
          <p:cNvSpPr/>
          <p:nvPr/>
        </p:nvSpPr>
        <p:spPr>
          <a:xfrm>
            <a:off x="-13848" y="395961"/>
            <a:ext cx="585900" cy="1676700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h246c859856c8b688_3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2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h246c859856c8b688_3_37"/>
          <p:cNvSpPr txBox="1"/>
          <p:nvPr/>
        </p:nvSpPr>
        <p:spPr>
          <a:xfrm>
            <a:off x="663761" y="488453"/>
            <a:ext cx="28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h246c859856c8b688_3_37"/>
          <p:cNvSpPr txBox="1"/>
          <p:nvPr/>
        </p:nvSpPr>
        <p:spPr>
          <a:xfrm>
            <a:off x="608300" y="1632200"/>
            <a:ext cx="293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Use Case For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School Equipment Officer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h246c859856c8b688_3_37"/>
          <p:cNvSpPr txBox="1"/>
          <p:nvPr/>
        </p:nvSpPr>
        <p:spPr>
          <a:xfrm>
            <a:off x="11165107" y="6423659"/>
            <a:ext cx="6795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32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56" name="Google Shape;556;h246c859856c8b688_3_37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557" name="Google Shape;557;h246c859856c8b688_3_37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558" name="Google Shape;558;h246c859856c8b688_3_37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59" name="Google Shape;559;h246c859856c8b688_3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6750" y="875553"/>
            <a:ext cx="5408406" cy="54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h246c859856c8b688_3_5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h246c859856c8b688_3_50"/>
          <p:cNvSpPr/>
          <p:nvPr/>
        </p:nvSpPr>
        <p:spPr>
          <a:xfrm>
            <a:off x="-13848" y="395961"/>
            <a:ext cx="585900" cy="1676700"/>
          </a:xfrm>
          <a:prstGeom prst="rect">
            <a:avLst/>
          </a:prstGeom>
          <a:solidFill>
            <a:srgbClr val="FF9933"/>
          </a:solidFill>
          <a:ln cap="flat" cmpd="sng" w="12700">
            <a:solidFill>
              <a:srgbClr val="FF99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6" name="Google Shape;566;h246c859856c8b688_3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5061" y="177053"/>
            <a:ext cx="2647952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h246c859856c8b688_3_50"/>
          <p:cNvSpPr txBox="1"/>
          <p:nvPr/>
        </p:nvSpPr>
        <p:spPr>
          <a:xfrm>
            <a:off x="663761" y="488453"/>
            <a:ext cx="28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USE CASE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vi-VN" sz="3600" u="none" cap="none" strike="noStrike">
                <a:solidFill>
                  <a:srgbClr val="FF9933"/>
                </a:solidFill>
                <a:latin typeface="Roboto"/>
                <a:ea typeface="Roboto"/>
                <a:cs typeface="Roboto"/>
                <a:sym typeface="Roboto"/>
              </a:rPr>
              <a:t>DIAGRAM</a:t>
            </a:r>
            <a:endParaRPr b="1" i="0" sz="3600" u="none" cap="none" strike="noStrike">
              <a:solidFill>
                <a:srgbClr val="FF99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h246c859856c8b688_3_50"/>
          <p:cNvSpPr txBox="1"/>
          <p:nvPr/>
        </p:nvSpPr>
        <p:spPr>
          <a:xfrm>
            <a:off x="608297" y="1632200"/>
            <a:ext cx="293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Use Case For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vi-VN" sz="1800">
                <a:solidFill>
                  <a:schemeClr val="dk1"/>
                </a:solidFill>
              </a:rPr>
              <a:t>School Equipment Officer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h246c859856c8b688_3_50"/>
          <p:cNvSpPr txBox="1"/>
          <p:nvPr/>
        </p:nvSpPr>
        <p:spPr>
          <a:xfrm>
            <a:off x="11165107" y="6423659"/>
            <a:ext cx="6795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vi-VN" sz="1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 32</a:t>
            </a:r>
            <a:endParaRPr b="0" i="0" sz="11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70" name="Google Shape;570;h246c859856c8b688_3_50"/>
          <p:cNvGrpSpPr/>
          <p:nvPr/>
        </p:nvGrpSpPr>
        <p:grpSpPr>
          <a:xfrm>
            <a:off x="-13848" y="6355794"/>
            <a:ext cx="1716345" cy="502158"/>
            <a:chOff x="-13848" y="6355794"/>
            <a:chExt cx="1716345" cy="502158"/>
          </a:xfrm>
        </p:grpSpPr>
        <p:sp>
          <p:nvSpPr>
            <p:cNvPr id="571" name="Google Shape;571;h246c859856c8b688_3_50"/>
            <p:cNvSpPr/>
            <p:nvPr/>
          </p:nvSpPr>
          <p:spPr>
            <a:xfrm>
              <a:off x="-13848" y="6355794"/>
              <a:ext cx="1701818" cy="502158"/>
            </a:xfrm>
            <a:custGeom>
              <a:rect b="b" l="l" r="r" t="t"/>
              <a:pathLst>
                <a:path extrusionOk="0" h="502158" w="2120646">
                  <a:moveTo>
                    <a:pt x="0" y="0"/>
                  </a:moveTo>
                  <a:lnTo>
                    <a:pt x="0" y="502158"/>
                  </a:lnTo>
                  <a:lnTo>
                    <a:pt x="2120646" y="502158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F39D5B"/>
            </a:solidFill>
            <a:ln>
              <a:noFill/>
            </a:ln>
          </p:spPr>
        </p:sp>
        <p:sp>
          <p:nvSpPr>
            <p:cNvPr id="572" name="Google Shape;572;h246c859856c8b688_3_50"/>
            <p:cNvSpPr txBox="1"/>
            <p:nvPr/>
          </p:nvSpPr>
          <p:spPr>
            <a:xfrm>
              <a:off x="-3" y="6476075"/>
              <a:ext cx="1702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9"/>
                <a:buFont typeface="Arial"/>
                <a:buNone/>
              </a:pPr>
              <a:r>
                <a:rPr b="1" lang="vi-VN" sz="1699">
                  <a:solidFill>
                    <a:srgbClr val="FCFEFF"/>
                  </a:solidFill>
                  <a:latin typeface="Roboto"/>
                  <a:ea typeface="Roboto"/>
                  <a:cs typeface="Roboto"/>
                  <a:sym typeface="Roboto"/>
                </a:rPr>
                <a:t>SFEMS</a:t>
              </a:r>
              <a:endParaRPr b="1" i="0" sz="1699" u="none" cap="none" strike="noStrike">
                <a:solidFill>
                  <a:srgbClr val="FCFE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73" name="Google Shape;573;h246c859856c8b688_3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400" y="943628"/>
            <a:ext cx="4611907" cy="5664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2"/>
          <p:cNvSpPr/>
          <p:nvPr/>
        </p:nvSpPr>
        <p:spPr>
          <a:xfrm>
            <a:off x="685800" y="616661"/>
            <a:ext cx="152400" cy="152400"/>
          </a:xfrm>
          <a:custGeom>
            <a:rect b="b" l="l" r="r" t="t"/>
            <a:pathLst>
              <a:path extrusionOk="0" h="228600" w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39D5B"/>
          </a:solidFill>
          <a:ln>
            <a:noFill/>
          </a:ln>
        </p:spPr>
      </p:sp>
      <p:sp>
        <p:nvSpPr>
          <p:cNvPr id="579" name="Google Shape;579;p52"/>
          <p:cNvSpPr/>
          <p:nvPr/>
        </p:nvSpPr>
        <p:spPr>
          <a:xfrm>
            <a:off x="1039267" y="616661"/>
            <a:ext cx="152400" cy="152400"/>
          </a:xfrm>
          <a:custGeom>
            <a:rect b="b" l="l" r="r" t="t"/>
            <a:pathLst>
              <a:path extrusionOk="0" h="228600" w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39D5B"/>
          </a:solidFill>
          <a:ln>
            <a:noFill/>
          </a:ln>
        </p:spPr>
      </p:sp>
      <p:sp>
        <p:nvSpPr>
          <p:cNvPr id="580" name="Google Shape;580;p52"/>
          <p:cNvSpPr/>
          <p:nvPr/>
        </p:nvSpPr>
        <p:spPr>
          <a:xfrm>
            <a:off x="1392733" y="616661"/>
            <a:ext cx="152400" cy="152400"/>
          </a:xfrm>
          <a:custGeom>
            <a:rect b="b" l="l" r="r" t="t"/>
            <a:pathLst>
              <a:path extrusionOk="0" h="228600" w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39D5B"/>
          </a:solidFill>
          <a:ln>
            <a:noFill/>
          </a:ln>
        </p:spPr>
      </p:sp>
      <p:sp>
        <p:nvSpPr>
          <p:cNvPr id="581" name="Google Shape;581;p52"/>
          <p:cNvSpPr/>
          <p:nvPr/>
        </p:nvSpPr>
        <p:spPr>
          <a:xfrm>
            <a:off x="2624404" y="1143324"/>
            <a:ext cx="6940550" cy="3848100"/>
          </a:xfrm>
          <a:custGeom>
            <a:rect b="b" l="l" r="r" t="t"/>
            <a:pathLst>
              <a:path extrusionOk="0" h="5772150" w="10410825">
                <a:moveTo>
                  <a:pt x="0" y="0"/>
                </a:moveTo>
                <a:lnTo>
                  <a:pt x="10410825" y="0"/>
                </a:lnTo>
                <a:lnTo>
                  <a:pt x="10410825" y="5772150"/>
                </a:lnTo>
                <a:lnTo>
                  <a:pt x="0" y="5772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2" name="Google Shape;582;p52"/>
          <p:cNvSpPr/>
          <p:nvPr/>
        </p:nvSpPr>
        <p:spPr>
          <a:xfrm>
            <a:off x="4861541" y="1609268"/>
            <a:ext cx="2470150" cy="946150"/>
          </a:xfrm>
          <a:custGeom>
            <a:rect b="b" l="l" r="r" t="t"/>
            <a:pathLst>
              <a:path extrusionOk="0" h="1419225" w="3705225">
                <a:moveTo>
                  <a:pt x="0" y="0"/>
                </a:moveTo>
                <a:lnTo>
                  <a:pt x="3705225" y="0"/>
                </a:lnTo>
                <a:lnTo>
                  <a:pt x="370522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3" name="Google Shape;583;p52"/>
          <p:cNvSpPr/>
          <p:nvPr/>
        </p:nvSpPr>
        <p:spPr>
          <a:xfrm>
            <a:off x="3483394" y="2784157"/>
            <a:ext cx="5226050" cy="1155700"/>
          </a:xfrm>
          <a:custGeom>
            <a:rect b="b" l="l" r="r" t="t"/>
            <a:pathLst>
              <a:path extrusionOk="0" h="1733550" w="7839075">
                <a:moveTo>
                  <a:pt x="0" y="0"/>
                </a:moveTo>
                <a:lnTo>
                  <a:pt x="7839075" y="0"/>
                </a:lnTo>
                <a:lnTo>
                  <a:pt x="7839075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4" name="Google Shape;584;p52"/>
          <p:cNvSpPr/>
          <p:nvPr/>
        </p:nvSpPr>
        <p:spPr>
          <a:xfrm>
            <a:off x="4861541" y="1609268"/>
            <a:ext cx="2470150" cy="946150"/>
          </a:xfrm>
          <a:custGeom>
            <a:rect b="b" l="l" r="r" t="t"/>
            <a:pathLst>
              <a:path extrusionOk="0" h="1419225" w="3705225">
                <a:moveTo>
                  <a:pt x="0" y="0"/>
                </a:moveTo>
                <a:lnTo>
                  <a:pt x="3705225" y="0"/>
                </a:lnTo>
                <a:lnTo>
                  <a:pt x="370522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5" name="Google Shape;585;p52"/>
          <p:cNvSpPr txBox="1"/>
          <p:nvPr/>
        </p:nvSpPr>
        <p:spPr>
          <a:xfrm>
            <a:off x="3483394" y="2982576"/>
            <a:ext cx="5124755" cy="1100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26"/>
              <a:buFont typeface="Arial"/>
              <a:buNone/>
            </a:pPr>
            <a:r>
              <a:rPr b="1" i="0" lang="vi-VN" sz="672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2025-12-12T21:32:57Z</dcterms:created>
  <dc:creator>Hoai</dc:creator>
</cp:coreProperties>
</file>